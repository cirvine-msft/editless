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233339"/>
            <a:ext cx="7772400" cy="1584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6240"/>
              </a:lnSpc>
              <a:spcAft>
                <a:spcPts val="3000"/>
              </a:spcAft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Developer's Journey to Agentic AI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685800" y="3199061"/>
            <a:ext cx="7772400" cy="711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one developer's workflow transformed—and what it means for every engineering team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C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4901" y="481310"/>
            <a:ext cx="4238235" cy="561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500"/>
              </a:spcAft>
              <a:buNone/>
            </a:pPr>
            <a:r>
              <a:rPr lang="en-US" sz="38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Starting Point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34901" y="1487686"/>
            <a:ext cx="8031682" cy="1256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spcAft>
                <a:spcPts val="18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 Mark, a senior developer. He's already using an AI coding assistant that autocompletes his code and answers his questions.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34901" y="2973139"/>
            <a:ext cx="3588207" cy="4189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spcAft>
                <a:spcPts val="1800"/>
              </a:spcAft>
              <a:buNone/>
            </a:pPr>
            <a:r>
              <a:rPr lang="en-US" sz="2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He's productive. He's happy.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34901" y="3938141"/>
            <a:ext cx="3571053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spcBef>
                <a:spcPts val="2500"/>
              </a:spcBef>
              <a:spcAft>
                <a:spcPts val="1800"/>
              </a:spcAft>
              <a:buNone/>
            </a:pPr>
            <a:r>
              <a:rPr lang="en-US" sz="2600" i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more do I need?"</a:t>
            </a:r>
            <a:endParaRPr lang="en-US" sz="2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4901" y="376982"/>
            <a:ext cx="3364903" cy="561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500"/>
              </a:spcAft>
              <a:buNone/>
            </a:pPr>
            <a:r>
              <a:rPr lang="en-US" sz="38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Discovery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34901" y="1383357"/>
            <a:ext cx="8031682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spcAft>
                <a:spcPts val="1800"/>
              </a:spcAft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 experiments with creating a simple agent. Then he realizes agents can: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15901" y="2602557"/>
            <a:ext cx="4498330" cy="1554361"/>
          </a:xfrm>
          <a:prstGeom prst="rect">
            <a:avLst/>
          </a:prstGeom>
          <a:noFill/>
          <a:ln/>
        </p:spPr>
        <p:txBody>
          <a:bodyPr wrap="square" lIns="190500" tIns="0" rIns="0" bIns="0" rtlCol="0" anchor="t"/>
          <a:lstStyle/>
          <a:p>
            <a:pPr algn="l" marL="190500" indent="-190500">
              <a:lnSpc>
                <a:spcPts val="3060"/>
              </a:lnSpc>
              <a:buSzPct val="100000"/>
              <a:buChar char="•"/>
            </a:pPr>
            <a:r>
              <a:rPr lang="en-US" sz="18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Improve themselves through iteration</a:t>
            </a:r>
            <a:endParaRPr lang="en-US" sz="1800" dirty="0"/>
          </a:p>
          <a:p>
            <a:pPr algn="l" marL="190500" indent="-190500">
              <a:lnSpc>
                <a:spcPts val="3060"/>
              </a:lnSpc>
              <a:buSzPct val="100000"/>
              <a:buChar char="•"/>
            </a:pPr>
            <a:r>
              <a:rPr lang="en-US" sz="18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 to external tools and APIs</a:t>
            </a:r>
            <a:endParaRPr lang="en-US" sz="1800" dirty="0"/>
          </a:p>
          <a:p>
            <a:pPr algn="l" marL="190500" indent="-190500">
              <a:lnSpc>
                <a:spcPts val="3060"/>
              </a:lnSpc>
              <a:buSzPct val="100000"/>
              <a:buChar char="•"/>
            </a:pPr>
            <a:r>
              <a:rPr lang="en-US" sz="18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Remember context across sessions</a:t>
            </a:r>
            <a:endParaRPr lang="en-US" sz="1800" dirty="0"/>
          </a:p>
          <a:p>
            <a:pPr algn="l" marL="190500" indent="-190500">
              <a:lnSpc>
                <a:spcPts val="3060"/>
              </a:lnSpc>
              <a:buSzPct val="100000"/>
              <a:buChar char="•"/>
            </a:pPr>
            <a:r>
              <a:rPr lang="en-US" sz="18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Coordinate with other specialized agents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34901" y="4156918"/>
            <a:ext cx="57016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spcAft>
                <a:spcPts val="1800"/>
              </a:spcAft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capability unlocks exponentially more value.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C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4901" y="688777"/>
            <a:ext cx="5603111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0"/>
              </a:spcAft>
              <a:buNone/>
            </a:pPr>
            <a:r>
              <a:rPr lang="en-US" sz="34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Ground Keeps Moving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34901" y="1437977"/>
            <a:ext cx="6143384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spcAft>
                <a:spcPts val="1200"/>
              </a:spcAft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landscape is evolving on every front — simultaneously: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1910358"/>
            <a:ext cx="7874198" cy="1447205"/>
          </a:xfrm>
          <a:prstGeom prst="rect">
            <a:avLst/>
          </a:prstGeom>
          <a:noFill/>
          <a:ln/>
        </p:spPr>
        <p:txBody>
          <a:bodyPr wrap="square" lIns="190500" tIns="0" rIns="0" bIns="0" rtlCol="0" anchor="t"/>
          <a:lstStyle/>
          <a:p>
            <a:pPr algn="l" marL="190500" indent="-190500">
              <a:lnSpc>
                <a:spcPts val="24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</a:t>
            </a:r>
            <a:pPr algn="l" indent="0" marL="0">
              <a:lnSpc>
                <a:spcPts val="24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improve and launch every week — each one more capable than the last</a:t>
            </a:r>
            <a:endParaRPr lang="en-US" sz="1600" dirty="0"/>
          </a:p>
          <a:p>
            <a:pPr algn="l" marL="190500" indent="-190500">
              <a:lnSpc>
                <a:spcPts val="24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developer tools</a:t>
            </a:r>
            <a:pPr algn="l" indent="0" marL="0">
              <a:lnSpc>
                <a:spcPts val="24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ship new features and experimental capabilities constantly</a:t>
            </a:r>
            <a:endParaRPr lang="en-US" sz="1600" dirty="0"/>
          </a:p>
          <a:p>
            <a:pPr algn="l" marL="190500" indent="-190500">
              <a:lnSpc>
                <a:spcPts val="24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frameworks</a:t>
            </a:r>
            <a:pPr algn="l" indent="0" marL="0">
              <a:lnSpc>
                <a:spcPts val="24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emerge that handle orchestration, memory, and multi-agent coordination out of the box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34901" y="3509963"/>
            <a:ext cx="7594485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spcAft>
                <a:spcPts val="1200"/>
              </a:spcAft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Especially over the last few months, these improvements have </a:t>
            </a:r>
            <a:pPr algn="l" indent="0" marL="0">
              <a:lnSpc>
                <a:spcPts val="2520"/>
              </a:lnSpc>
              <a:spcAft>
                <a:spcPts val="12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exploded</a:t>
            </a:r>
            <a:pPr algn="l" indent="0" marL="0">
              <a:lnSpc>
                <a:spcPts val="2520"/>
              </a:lnSpc>
              <a:spcAft>
                <a:spcPts val="1200"/>
              </a:spcAft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34901" y="3982343"/>
            <a:ext cx="3614621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spcAft>
                <a:spcPts val="1200"/>
              </a:spcAft>
              <a:buNone/>
            </a:pPr>
            <a:r>
              <a:rPr lang="en-US" sz="18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ground never stops moving.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C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4901" y="656332"/>
            <a:ext cx="5677192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600"/>
              </a:spcAft>
              <a:buNone/>
            </a:pPr>
            <a:r>
              <a:rPr lang="en-US" sz="34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Productivity Explosion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34901" y="1354782"/>
            <a:ext cx="8031682" cy="604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8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months ago, AI needed hand-holding. You watched every output, corrected constantly.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34901" y="2086273"/>
            <a:ext cx="6842900" cy="302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80"/>
              </a:lnSpc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That's no longer true.</a:t>
            </a:r>
            <a:pPr algn="l" indent="0" marL="0">
              <a:lnSpc>
                <a:spcPts val="2380"/>
              </a:lnSpc>
              <a:spcAft>
                <a:spcPts val="1000"/>
              </a:spcAft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Models have gotten dramatically better — fast.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34901" y="2515493"/>
            <a:ext cx="7778948" cy="1047452"/>
          </a:xfrm>
          <a:prstGeom prst="rect">
            <a:avLst/>
          </a:prstGeom>
          <a:noFill/>
          <a:ln/>
        </p:spPr>
        <p:txBody>
          <a:bodyPr wrap="square" lIns="190500" tIns="0" rIns="0" bIns="0" rtlCol="0" anchor="t"/>
          <a:lstStyle/>
          <a:p>
            <a:pPr algn="l" marL="190500" indent="-190500">
              <a:lnSpc>
                <a:spcPts val="2250"/>
              </a:lnSpc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can now handle </a:t>
            </a:r>
            <a:pPr algn="l" indent="0" marL="0">
              <a:lnSpc>
                <a:spcPts val="2250"/>
              </a:lnSpc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long-running, complex tasks</a:t>
            </a:r>
            <a:pPr algn="l" indent="0" marL="0">
              <a:lnSpc>
                <a:spcPts val="2250"/>
              </a:lnSpc>
              <a:spcAft>
                <a:spcPts val="500"/>
              </a:spcAft>
              <a:buNone/>
            </a:pPr>
            <a:r>
              <a:rPr lang="en-US" sz="15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with minimal oversight</a:t>
            </a:r>
            <a:endParaRPr lang="en-US" sz="1500" dirty="0"/>
          </a:p>
          <a:p>
            <a:pPr algn="l" marL="190500" indent="-190500">
              <a:lnSpc>
                <a:spcPts val="2250"/>
              </a:lnSpc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developer runs </a:t>
            </a:r>
            <a:pPr algn="l" indent="0" marL="0">
              <a:lnSpc>
                <a:spcPts val="2250"/>
              </a:lnSpc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multiple parallel work streams</a:t>
            </a:r>
            <a:pPr algn="l" indent="0" marL="0">
              <a:lnSpc>
                <a:spcPts val="2250"/>
              </a:lnSpc>
              <a:spcAft>
                <a:spcPts val="500"/>
              </a:spcAft>
              <a:buNone/>
            </a:pPr>
            <a:r>
              <a:rPr lang="en-US" sz="15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kicking off tasks and moving on</a:t>
            </a:r>
            <a:endParaRPr lang="en-US" sz="1500" dirty="0"/>
          </a:p>
          <a:p>
            <a:pPr algn="l" marL="190500" indent="-190500">
              <a:lnSpc>
                <a:spcPts val="2250"/>
              </a:lnSpc>
              <a:spcAft>
                <a:spcPts val="500"/>
              </a:spcAft>
              <a:buSzPct val="100000"/>
              <a:buChar char="•"/>
            </a:pPr>
            <a:r>
              <a:rPr lang="en-US" sz="15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ramp-up from "first agent" to "full automation" is happening in </a:t>
            </a:r>
            <a:pPr algn="l" indent="0" marL="0">
              <a:lnSpc>
                <a:spcPts val="2250"/>
              </a:lnSpc>
              <a:spcAft>
                <a:spcPts val="500"/>
              </a:spcAft>
              <a:buNone/>
            </a:pPr>
            <a:r>
              <a:rPr lang="en-US" sz="1500" b="1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weeks, not months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34901" y="3791396"/>
            <a:ext cx="8031682" cy="5688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spcBef>
                <a:spcPts val="800"/>
              </a:spcBef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 tried AI six months ago and were underwhelmed — try again. It's a different world.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C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08372" y="1887736"/>
            <a:ext cx="3327255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6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Gap Is Widening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929993" y="2309961"/>
            <a:ext cx="5283866" cy="2144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9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Developers who adopt AI aren't just keeping up — they're pulling away.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867905" y="2702123"/>
            <a:ext cx="5408042" cy="198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AI-first developers ride the capability curve. Everyone else falls behind it.</a:t>
            </a:r>
            <a:endParaRPr lang="en-US" sz="1200" dirty="0"/>
          </a:p>
        </p:txBody>
      </p:sp>
      <p:pic>
        <p:nvPicPr>
          <p:cNvPr id="5" name="Image 0" descr="C:\Users\cirvine\code\work\editless.wt\leadership-presentation\docs\presentations\workspace\short\capability-curv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97280" y="1188720"/>
            <a:ext cx="694944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C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4901" y="739527"/>
            <a:ext cx="4062901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500"/>
              </a:spcAft>
              <a:buNone/>
            </a:pPr>
            <a:r>
              <a:rPr lang="en-US" sz="34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New Developer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34901" y="1552277"/>
            <a:ext cx="8031682" cy="906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80"/>
              </a:lnSpc>
              <a:spcAft>
                <a:spcPts val="1400"/>
              </a:spcAft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modern developer delegates to agents: resolve merge conflicts, create work items, triage issues, submit PRs, review PRs, do exploratory testing, spike multiple solutions — even create PowerPoint slides.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634901" y="2839938"/>
            <a:ext cx="4473229" cy="304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spcBef>
                <a:spcPts val="1600"/>
              </a:spcBef>
              <a:spcAft>
                <a:spcPts val="1400"/>
              </a:spcAft>
              <a:buNone/>
            </a:pPr>
            <a:r>
              <a:rPr lang="en-US" sz="1600" i="1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(Yes — this presentation was generated with AI.)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34901" y="3550890"/>
            <a:ext cx="8031682" cy="6753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60"/>
              </a:lnSpc>
              <a:spcBef>
                <a:spcPts val="1800"/>
              </a:spcBef>
              <a:spcAft>
                <a:spcPts val="1400"/>
              </a:spcAft>
              <a:buNone/>
            </a:pPr>
            <a:r>
              <a:rPr lang="en-US" sz="19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craft shifts from "how do I write this?" to "who should write this, and what are the constraints?"</a:t>
            </a:r>
            <a:endParaRPr lang="en-US" sz="1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Developer's Journey to Agentic AI</dc:title>
  <dc:subject>PptxGenJS Presentation</dc:subject>
  <dc:creator>Leadership Team</dc:creator>
  <cp:lastModifiedBy>Leadership Team</cp:lastModifiedBy>
  <cp:revision>1</cp:revision>
  <dcterms:created xsi:type="dcterms:W3CDTF">2026-02-18T21:45:32Z</dcterms:created>
  <dcterms:modified xsi:type="dcterms:W3CDTF">2026-02-18T21:45:32Z</dcterms:modified>
</cp:coreProperties>
</file>